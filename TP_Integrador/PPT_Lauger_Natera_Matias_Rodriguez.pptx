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Nunito Sans"/>
      <p:regular r:id="rId201314"/>
    </p:embeddedFont>
    <p:embeddedFont>
      <p:font typeface="Nunito Sans SemiBold"/>
      <p:regular r:id="rId201315"/>
    </p:embeddedFont>
    <p:embeddedFont>
      <p:font typeface="Nunito Sans Bold"/>
      <p:regular r:id="rId201316"/>
    </p:embeddedFont>
    <p:embeddedFont>
      <p:font typeface="Red Hat Display"/>
      <p:regular r:id="rId201317"/>
    </p:embeddedFont>
    <p:embeddedFont>
      <p:font typeface="Red Hat Display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C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C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030" y="1168400"/>
            <a:ext cx="76325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PROYECTO INTEGRADOR DE 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81030" y="1526480"/>
            <a:ext cx="7022924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Extractor de entidades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en noticias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781030" y="4425255"/>
            <a:ext cx="702292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Identificar personas, lugares y organizaciones en textos periodísticos en español.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 — EL PROBLEMA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910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6F1E2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Leer una noticia no debería exigir buscar nombre por nombre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61505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2C3014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602805"/>
            <a:ext cx="5333867" cy="1779687"/>
          </a:xfrm>
          <a:prstGeom prst="rect">
            <a:avLst/>
          </a:prstGeom>
          <a:solidFill>
            <a:srgbClr val="F6F1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831405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308608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Entrada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38179" y="3656211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app recibe una noticia en español y devuelve personas, lugares y organizaciones.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9585" y="4534892"/>
            <a:ext cx="5333867" cy="1779687"/>
          </a:xfrm>
          <a:prstGeom prst="rect">
            <a:avLst/>
          </a:prstGeom>
          <a:solidFill>
            <a:srgbClr val="F6F1E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9" y="4763492"/>
            <a:ext cx="355591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8179" y="5240695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El límite de las reglas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38179" y="5588298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Las reglas manuales exigen listas incompletas y se rompen con el contexto.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48244" y="2602805"/>
            <a:ext cx="5333867" cy="1703487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14" name="Text 10"/>
          <p:cNvSpPr/>
          <p:nvPr/>
        </p:nvSpPr>
        <p:spPr>
          <a:xfrm>
            <a:off x="6476838" y="2831405"/>
            <a:ext cx="51052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EJEMPLO DE CONTEXTO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76838" y="3111517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“Mercedes”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76838" y="3497461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Puede ser persona o ciudad.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48244" y="4611092"/>
            <a:ext cx="5333867" cy="1703487"/>
          </a:xfrm>
          <a:prstGeom prst="rect">
            <a:avLst/>
          </a:prstGeom>
          <a:solidFill>
            <a:srgbClr val="5F6B30"/>
          </a:solidFill>
          <a:ln/>
        </p:spPr>
      </p:sp>
      <p:sp>
        <p:nvSpPr>
          <p:cNvPr id="18" name="Text 14"/>
          <p:cNvSpPr/>
          <p:nvPr/>
        </p:nvSpPr>
        <p:spPr>
          <a:xfrm>
            <a:off x="6476838" y="4839692"/>
            <a:ext cx="51052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EJEMPLO DE CONFIANZA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476838" y="5119804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“Inter Miami”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76838" y="5505748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Fue reconocido como organización con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0,9987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77895" y="6466086"/>
            <a:ext cx="24888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Extractor de entidades en noticias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939190" y="6466086"/>
            <a:ext cx="2525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 — DECISIÓN DE MODELO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910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6F1E2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Babelscape ganó por equilibrio, no por velocidad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comparación fue sobre 9 frases y 52 entidades.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724646"/>
          <a:ext cx="10972526" cy="914400"/>
        </p:xfrm>
        <a:graphic>
          <a:graphicData uri="http://schemas.openxmlformats.org/drawingml/2006/table">
            <a:tbl>
              <a:tblPr/>
              <a:tblGrid>
                <a:gridCol w="3072216"/>
                <a:gridCol w="1975003"/>
                <a:gridCol w="1975003"/>
                <a:gridCol w="395030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6F1E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Modelo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6F1E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Aciertos estrictos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6F1E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Con límites distintos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6F1E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Lectura técnica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6F1E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Babelscape/wikineural-multilingual-ner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44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B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46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B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6F1E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709 MB · Mayor acierto · Menos librerias  · WikiNEuRal desde Wikipedia 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6F1E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Davlan/xlm-roberta-base-ner-hrl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6F1E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44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6F1E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45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6F1E2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1,11 GB · más rápido · dependencias adicionales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9585" y="4579243"/>
            <a:ext cx="5257668" cy="996255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7" name="Text 4"/>
          <p:cNvSpPr/>
          <p:nvPr/>
        </p:nvSpPr>
        <p:spPr>
          <a:xfrm>
            <a:off x="838179" y="4807843"/>
            <a:ext cx="502907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VENTAJA DECISIVA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38179" y="5087955"/>
            <a:ext cx="48004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Memoria y simplicidad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24442" y="4807843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Funcionó sin librerías extra. Davlan fue más rápido, pero pesó 1,11 GB y requirió dependencias adicionales.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7895" y="6466086"/>
            <a:ext cx="24888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Extractor de entidades en noticias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939190" y="6466086"/>
            <a:ext cx="2525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52257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 — ARQUITECTURA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371"/>
            <a:ext cx="5912992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6F1E2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El código vive en GitHub; la inferencia ocurre en Streamlit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941016"/>
            <a:ext cx="5912992" cy="1561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Las computadoras sirven para desarrollar y probar.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GitHub guarda app.py, notebook.ipynb, requirements.txt y README.md. Streamlit Community Cloud lee el repositorio y ejecuta app.py.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Hugging Face aloja los pesos de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6F1E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709 MB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; Streamlit descarga el modelo y lo carga en memoria.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855" y="0"/>
            <a:ext cx="4754840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7895" y="6466086"/>
            <a:ext cx="24888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Extractor de entidades en noticias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58542" y="6466086"/>
            <a:ext cx="68429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 — DECISIÓN DE DEPLOY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910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6F1E2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Elegimos pipeline para no depender de créditos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inferencia queda dentro de Streamlit, con costos y límites visibles.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124696"/>
            <a:ext cx="3555911" cy="2886968"/>
          </a:xfrm>
          <a:prstGeom prst="roundRect">
            <a:avLst>
              <a:gd name="adj" fmla="val 396"/>
            </a:avLst>
          </a:prstGeom>
          <a:solidFill>
            <a:srgbClr val="5F6B30"/>
          </a:solidFill>
          <a:ln w="19050">
            <a:solidFill>
              <a:srgbClr val="4549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8634" y="3143746"/>
            <a:ext cx="3517812" cy="55245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7" name="Shape 5"/>
          <p:cNvSpPr/>
          <p:nvPr/>
        </p:nvSpPr>
        <p:spPr>
          <a:xfrm>
            <a:off x="628634" y="3677146"/>
            <a:ext cx="3517812" cy="19050"/>
          </a:xfrm>
          <a:prstGeom prst="rect">
            <a:avLst/>
          </a:prstGeom>
          <a:solidFill>
            <a:srgbClr val="45492D"/>
          </a:solidFill>
          <a:ln/>
        </p:spPr>
      </p:sp>
      <p:sp>
        <p:nvSpPr>
          <p:cNvPr id="8" name="Text 6"/>
          <p:cNvSpPr/>
          <p:nvPr/>
        </p:nvSpPr>
        <p:spPr>
          <a:xfrm>
            <a:off x="2307473" y="3277096"/>
            <a:ext cx="7696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F6F1E2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6430" y="3769221"/>
            <a:ext cx="335906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ELEGIDO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6430" y="4049333"/>
            <a:ext cx="316222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Pipeline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6430" y="4435277"/>
            <a:ext cx="3162221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Descarga los pesos y ejecuta la inferencia dentro de Streamlit.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0,185 s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por frase · primera carga: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 min 37 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17892" y="3124696"/>
            <a:ext cx="3555911" cy="2886968"/>
          </a:xfrm>
          <a:prstGeom prst="roundRect">
            <a:avLst>
              <a:gd name="adj" fmla="val 396"/>
            </a:avLst>
          </a:prstGeom>
          <a:noFill/>
          <a:ln w="19050">
            <a:solidFill>
              <a:srgbClr val="4549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6942" y="3143746"/>
            <a:ext cx="3517812" cy="55245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14" name="Shape 12"/>
          <p:cNvSpPr/>
          <p:nvPr/>
        </p:nvSpPr>
        <p:spPr>
          <a:xfrm>
            <a:off x="4336942" y="3677146"/>
            <a:ext cx="3517812" cy="19050"/>
          </a:xfrm>
          <a:prstGeom prst="rect">
            <a:avLst/>
          </a:prstGeom>
          <a:solidFill>
            <a:srgbClr val="45492D"/>
          </a:solidFill>
          <a:ln/>
        </p:spPr>
      </p:sp>
      <p:sp>
        <p:nvSpPr>
          <p:cNvPr id="15" name="Text 13"/>
          <p:cNvSpPr/>
          <p:nvPr/>
        </p:nvSpPr>
        <p:spPr>
          <a:xfrm>
            <a:off x="6015780" y="3277096"/>
            <a:ext cx="7696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F6F1E2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14737" y="3769221"/>
            <a:ext cx="335906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DESCARTADO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14737" y="4049333"/>
            <a:ext cx="316222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4BE9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InferenceClient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14737" y="4435277"/>
            <a:ext cx="3162221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Devuelve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6F1E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402 Payment Required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cuando se agotan los créditos.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Menos memoria y arranque más rápido, pero dependencia de créditos.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26199" y="3124696"/>
            <a:ext cx="3555911" cy="2886968"/>
          </a:xfrm>
          <a:prstGeom prst="roundRect">
            <a:avLst>
              <a:gd name="adj" fmla="val 396"/>
            </a:avLst>
          </a:prstGeom>
          <a:noFill/>
          <a:ln w="19050">
            <a:solidFill>
              <a:srgbClr val="4549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5249" y="3143746"/>
            <a:ext cx="3517812" cy="55245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5249" y="3677146"/>
            <a:ext cx="3517812" cy="19050"/>
          </a:xfrm>
          <a:prstGeom prst="rect">
            <a:avLst/>
          </a:prstGeom>
          <a:solidFill>
            <a:srgbClr val="45492D"/>
          </a:solidFill>
          <a:ln/>
        </p:spPr>
      </p:sp>
      <p:sp>
        <p:nvSpPr>
          <p:cNvPr id="22" name="Text 20"/>
          <p:cNvSpPr/>
          <p:nvPr/>
        </p:nvSpPr>
        <p:spPr>
          <a:xfrm>
            <a:off x="9724087" y="3277096"/>
            <a:ext cx="7696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F6F1E2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223044" y="3769221"/>
            <a:ext cx="335906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DESCARTADOS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3044" y="4049333"/>
            <a:ext cx="316222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4BE9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Render + Hugging Face Spaces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3044" y="4714677"/>
            <a:ext cx="3162221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Render ofrece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6F1E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512 MB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gratuitos: no alcanza para un modelo de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6F1E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709 MB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Hugging Face Spaces dependía de un plan pago.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7895" y="6466086"/>
            <a:ext cx="24888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Extractor de entidades en noticias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939190" y="6466086"/>
            <a:ext cx="2525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67100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 — DEMO PÚBLICA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9105"/>
            <a:ext cx="4061418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6F1E2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La app está publicada y se puede probar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952055"/>
            <a:ext cx="467100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demostración sigue tres pasos simples.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3359646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C3014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3608586"/>
            <a:ext cx="1252209" cy="1905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751124"/>
            <a:ext cx="125220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4BE9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Pegar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4098727"/>
            <a:ext cx="125220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Una noticia en español.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4189" y="3359646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C3014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4189" y="3608586"/>
            <a:ext cx="1252209" cy="1905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11" name="Text 9"/>
          <p:cNvSpPr/>
          <p:nvPr/>
        </p:nvSpPr>
        <p:spPr>
          <a:xfrm>
            <a:off x="2014189" y="3751124"/>
            <a:ext cx="125220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4BE9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Analizar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014189" y="4098727"/>
            <a:ext cx="125220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Presionar “Analizar”.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8794" y="3359646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C3014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18794" y="3608586"/>
            <a:ext cx="1252209" cy="1905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15" name="Text 13"/>
          <p:cNvSpPr/>
          <p:nvPr/>
        </p:nvSpPr>
        <p:spPr>
          <a:xfrm>
            <a:off x="3418794" y="3751124"/>
            <a:ext cx="125220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4BE9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Revisar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18794" y="4098727"/>
            <a:ext cx="1252209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Ver las entidades detectadas por tipo.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585" y="5252839"/>
            <a:ext cx="467100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ENLACE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585" y="5598220"/>
            <a:ext cx="406141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https://matiasrodriguezseminario2026-8dnzgoc2y8kf54rythqt8v.streamlit.app/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37677" y="0"/>
            <a:ext cx="6454018" cy="6858000"/>
          </a:xfrm>
          <a:prstGeom prst="rect">
            <a:avLst/>
          </a:prstGeom>
          <a:noFill/>
          <a:ln w="19050">
            <a:solidFill>
              <a:srgbClr val="45492D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6311" y="1018877"/>
            <a:ext cx="5196650" cy="422900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7895" y="6466086"/>
            <a:ext cx="24888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Extractor de entidades en noticias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939190" y="6466086"/>
            <a:ext cx="2525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06 — APRENDIZAJE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910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6F1E2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Los errores mostraron dónde estaba el problema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Cada error llevó a una corrección concreta o a una decisión de arquitectura.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724646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C3014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973586"/>
            <a:ext cx="3555812" cy="1905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099296"/>
            <a:ext cx="355591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585" y="3379408"/>
            <a:ext cx="355591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4BE9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ModuleNotFoundError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3765352"/>
            <a:ext cx="3555911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transformers no estaba instalado en el Python que usaba la notebook.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 corrigió con %pip, kernel Python 3.11 y reinicio.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17892" y="2724646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C3014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7892" y="2973586"/>
            <a:ext cx="3555812" cy="1905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12" name="Text 10"/>
          <p:cNvSpPr/>
          <p:nvPr/>
        </p:nvSpPr>
        <p:spPr>
          <a:xfrm>
            <a:off x="4317892" y="3099296"/>
            <a:ext cx="355591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17892" y="3379408"/>
            <a:ext cx="355591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4BE9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Davlan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17892" y="3765352"/>
            <a:ext cx="3555911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Faltaban sentencepiece, tiktoken y protobuf para su tokenizador.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Babelscape no tuvo ese problema porque incluía tokenizer.json.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6199" y="2724646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C3014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26199" y="2973586"/>
            <a:ext cx="3555812" cy="1905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17" name="Text 15"/>
          <p:cNvSpPr/>
          <p:nvPr/>
        </p:nvSpPr>
        <p:spPr>
          <a:xfrm>
            <a:off x="8026199" y="3099296"/>
            <a:ext cx="355591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26199" y="3379408"/>
            <a:ext cx="355591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4BE9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402 Payment Required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26199" y="3765352"/>
            <a:ext cx="3555911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InferenceClient no pudo continuar por falta de créditos.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decisión fue pasar a pipeline.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7895" y="6466086"/>
            <a:ext cx="24888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Extractor de entidades en noticias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939190" y="6466086"/>
            <a:ext cx="2525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07 — PRÓXIMO PASO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910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6F1E2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El prototipo funciona; el producto todavía necesita escala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17055"/>
            <a:ext cx="2628834" cy="3810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583755"/>
            <a:ext cx="240024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179" y="2863867"/>
            <a:ext cx="21716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4BE9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Hasta unos 3 minutos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3529211"/>
            <a:ext cx="2171646" cy="1493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 1000 consultas secuenciales, el promedio observado sugiere hasta unos 3 minutos, sin contar la latencia real de Streamlit.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90815" y="2317055"/>
            <a:ext cx="2628834" cy="3810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9" name="Text 7"/>
          <p:cNvSpPr/>
          <p:nvPr/>
        </p:nvSpPr>
        <p:spPr>
          <a:xfrm>
            <a:off x="3619409" y="2583755"/>
            <a:ext cx="240024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CALIDAD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19409" y="2863867"/>
            <a:ext cx="21716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4BE9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El texto informal es el punto débil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19409" y="3529211"/>
            <a:ext cx="2171646" cy="1493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texto informal en minúsculas y la jerga fueron el principal punto débil: “boca”, “nico”, “vale”, “palermo” y “obelisco” no fueron detectados.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046" y="2317055"/>
            <a:ext cx="2628834" cy="3810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640" y="2583755"/>
            <a:ext cx="240024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4BE9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EVALUACIÓN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640" y="2863867"/>
            <a:ext cx="21716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4BE95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Más noticias, más cobertura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640" y="3529211"/>
            <a:ext cx="2171646" cy="1493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Próximos pasos: evaluar con muchas más noticias, sumar datos informales, cubrir fechas/cifras/cargos y migrar a un modelo con licencia comercial.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53276" y="2317055"/>
            <a:ext cx="2628834" cy="2933799"/>
          </a:xfrm>
          <a:prstGeom prst="rect">
            <a:avLst/>
          </a:prstGeom>
          <a:solidFill>
            <a:srgbClr val="5F6B30"/>
          </a:solidFill>
          <a:ln/>
        </p:spPr>
      </p:sp>
      <p:sp>
        <p:nvSpPr>
          <p:cNvPr id="17" name="Shape 15"/>
          <p:cNvSpPr/>
          <p:nvPr/>
        </p:nvSpPr>
        <p:spPr>
          <a:xfrm>
            <a:off x="8953276" y="2317055"/>
            <a:ext cx="2628834" cy="38100"/>
          </a:xfrm>
          <a:prstGeom prst="rect">
            <a:avLst/>
          </a:prstGeom>
          <a:solidFill>
            <a:srgbClr val="2C3014"/>
          </a:solidFill>
          <a:ln/>
        </p:spPr>
      </p:sp>
      <p:sp>
        <p:nvSpPr>
          <p:cNvPr id="18" name="Text 16"/>
          <p:cNvSpPr/>
          <p:nvPr/>
        </p:nvSpPr>
        <p:spPr>
          <a:xfrm>
            <a:off x="9181870" y="2583755"/>
            <a:ext cx="240024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PRODUCCIÓN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81870" y="2863867"/>
            <a:ext cx="21716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Display" pitchFamily="34" charset="0"/>
                <a:ea typeface="Red Hat Display" pitchFamily="34" charset="-122"/>
                <a:cs typeface="Red Hat Display" pitchFamily="34" charset="-120"/>
              </a:rPr>
              <a:t>Migrar y garantizar capacidad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81870" y="3529211"/>
            <a:ext cx="2171646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Para producción: memoria y CPU garantizadas, autoscaling y una copia propia de los pesos.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7895" y="6466086"/>
            <a:ext cx="24888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Extractor de entidades en noticias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939190" y="6466086"/>
            <a:ext cx="2525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6F1E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2026-10-16T22:20:01Z</dcterms:created>
  <dcterms:modified xsi:type="dcterms:W3CDTF">2026-10-16T22:20:01Z</dcterms:modified>
</cp:coreProperties>
</file>